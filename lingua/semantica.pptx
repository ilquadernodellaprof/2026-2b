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8D843F-15B4-45DA-BFA3-F39A6994204B}" v="2" dt="2026-02-21T19:24:22.4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Stile con tema 1 - Color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 Capurri" userId="87179196e4fe3af3" providerId="LiveId" clId="{7009582F-10B4-4D7D-8EDD-5B33991A492F}"/>
    <pc:docChg chg="custSel addSld modSld">
      <pc:chgData name="Lucia Capurri" userId="87179196e4fe3af3" providerId="LiveId" clId="{7009582F-10B4-4D7D-8EDD-5B33991A492F}" dt="2026-02-21T19:25:33.851" v="24" actId="1076"/>
      <pc:docMkLst>
        <pc:docMk/>
      </pc:docMkLst>
      <pc:sldChg chg="delSp modSp mod">
        <pc:chgData name="Lucia Capurri" userId="87179196e4fe3af3" providerId="LiveId" clId="{7009582F-10B4-4D7D-8EDD-5B33991A492F}" dt="2026-02-21T19:25:33.851" v="24" actId="1076"/>
        <pc:sldMkLst>
          <pc:docMk/>
          <pc:sldMk cId="3395548710" sldId="258"/>
        </pc:sldMkLst>
        <pc:spChg chg="mod">
          <ac:chgData name="Lucia Capurri" userId="87179196e4fe3af3" providerId="LiveId" clId="{7009582F-10B4-4D7D-8EDD-5B33991A492F}" dt="2026-02-21T19:25:33.851" v="24" actId="1076"/>
          <ac:spMkLst>
            <pc:docMk/>
            <pc:sldMk cId="3395548710" sldId="258"/>
            <ac:spMk id="2" creationId="{9E2C6F00-E208-1C80-075D-74EE55471468}"/>
          </ac:spMkLst>
        </pc:spChg>
        <pc:spChg chg="del">
          <ac:chgData name="Lucia Capurri" userId="87179196e4fe3af3" providerId="LiveId" clId="{7009582F-10B4-4D7D-8EDD-5B33991A492F}" dt="2026-02-21T19:24:40.062" v="14" actId="478"/>
          <ac:spMkLst>
            <pc:docMk/>
            <pc:sldMk cId="3395548710" sldId="258"/>
            <ac:spMk id="5" creationId="{02AF7ACE-C758-90AF-D535-228D7A2E2AFA}"/>
          </ac:spMkLst>
        </pc:spChg>
        <pc:graphicFrameChg chg="mod modGraphic">
          <ac:chgData name="Lucia Capurri" userId="87179196e4fe3af3" providerId="LiveId" clId="{7009582F-10B4-4D7D-8EDD-5B33991A492F}" dt="2026-02-21T19:25:29.206" v="23" actId="1076"/>
          <ac:graphicFrameMkLst>
            <pc:docMk/>
            <pc:sldMk cId="3395548710" sldId="258"/>
            <ac:graphicFrameMk id="4" creationId="{191F1312-59B7-7886-9CE1-999E013ABE3A}"/>
          </ac:graphicFrameMkLst>
        </pc:graphicFrameChg>
      </pc:sldChg>
      <pc:sldChg chg="addSp delSp modSp add mod">
        <pc:chgData name="Lucia Capurri" userId="87179196e4fe3af3" providerId="LiveId" clId="{7009582F-10B4-4D7D-8EDD-5B33991A492F}" dt="2026-02-21T19:24:34.575" v="13" actId="14100"/>
        <pc:sldMkLst>
          <pc:docMk/>
          <pc:sldMk cId="2452328637" sldId="259"/>
        </pc:sldMkLst>
        <pc:spChg chg="mod">
          <ac:chgData name="Lucia Capurri" userId="87179196e4fe3af3" providerId="LiveId" clId="{7009582F-10B4-4D7D-8EDD-5B33991A492F}" dt="2026-02-21T19:23:18.814" v="2" actId="1076"/>
          <ac:spMkLst>
            <pc:docMk/>
            <pc:sldMk cId="2452328637" sldId="259"/>
            <ac:spMk id="2" creationId="{A0319C2B-FC32-D770-9914-805FBA144C42}"/>
          </ac:spMkLst>
        </pc:spChg>
        <pc:spChg chg="mod">
          <ac:chgData name="Lucia Capurri" userId="87179196e4fe3af3" providerId="LiveId" clId="{7009582F-10B4-4D7D-8EDD-5B33991A492F}" dt="2026-02-21T19:24:34.575" v="13" actId="14100"/>
          <ac:spMkLst>
            <pc:docMk/>
            <pc:sldMk cId="2452328637" sldId="259"/>
            <ac:spMk id="5" creationId="{C2F5C32E-54C4-8E05-4458-388B4CCF8E68}"/>
          </ac:spMkLst>
        </pc:spChg>
        <pc:spChg chg="add mod">
          <ac:chgData name="Lucia Capurri" userId="87179196e4fe3af3" providerId="LiveId" clId="{7009582F-10B4-4D7D-8EDD-5B33991A492F}" dt="2026-02-21T19:24:10.410" v="8" actId="27636"/>
          <ac:spMkLst>
            <pc:docMk/>
            <pc:sldMk cId="2452328637" sldId="259"/>
            <ac:spMk id="6" creationId="{4D36E1E5-8B37-A74B-A1FF-8DB4C96F2F52}"/>
          </ac:spMkLst>
        </pc:spChg>
        <pc:graphicFrameChg chg="del modGraphic">
          <ac:chgData name="Lucia Capurri" userId="87179196e4fe3af3" providerId="LiveId" clId="{7009582F-10B4-4D7D-8EDD-5B33991A492F}" dt="2026-02-21T19:23:51.125" v="5" actId="478"/>
          <ac:graphicFrameMkLst>
            <pc:docMk/>
            <pc:sldMk cId="2452328637" sldId="259"/>
            <ac:graphicFrameMk id="4" creationId="{5E04B979-3BCF-F01E-33B8-32C45F365D44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CDC818-7EAA-3A83-69BA-57281F6C9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A9AD11E-C5A6-E0A3-197E-110C341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E579BE-E13E-2A21-E851-DAFC8CDA0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9F48E-D7A0-4AFB-9C47-59702B7FA24F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06AA36-D0C8-FBD9-9F56-BEB54CEA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AB9E90-FCCC-FC38-7B45-85773DB53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2947-A581-43B4-A8BD-AC6302036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9493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F3D691-D9B5-CF4E-8AF1-4AEC8CF41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B09BEA-A5E6-F3BD-C02D-38A29C8AA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D09250-D703-3074-3889-7C514DF5B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9F48E-D7A0-4AFB-9C47-59702B7FA24F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AFA1E65-4748-2A32-87E9-FF14D87A1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B494FD-1A7F-9C94-1B28-A283866B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2947-A581-43B4-A8BD-AC6302036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495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53D49E-FDDA-01A5-F501-5E1108937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B550E99-B4B2-E956-D0CE-73E4F6BEB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D4DD6B-6630-B469-DF1C-CCF19541A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9F48E-D7A0-4AFB-9C47-59702B7FA24F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3D66C1-B336-2859-2687-41C066BE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57B7D8-969A-493C-099F-2F762F31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2947-A581-43B4-A8BD-AC6302036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8772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F47542-E9BB-8285-5493-80545D42A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4686F2-A697-3AE2-230F-63F38CAF4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69D7BBE-C83A-0D28-0CE5-99CEE7091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9050FB2-D561-B2E2-C820-3C477197A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9F48E-D7A0-4AFB-9C47-59702B7FA24F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D82830E-EBAD-9020-BEF2-C66C5E08D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BD1A9FB-FD42-4DBF-051C-E9F8D4595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2947-A581-43B4-A8BD-AC6302036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7800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35C34F-ADD1-312B-C19E-A1B8E347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4E08447-FE7C-81E1-1B70-C38C03092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7457149-A2B2-2EFF-9FD4-C03836E19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6040E1B-2301-3DF4-9F4B-332D075AF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E0D3440-CAC6-B171-2D7D-3E9C34FF92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AC3FBF1-40C5-6B02-5AD4-DE6E5167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9F48E-D7A0-4AFB-9C47-59702B7FA24F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E192C78-5A70-7723-AE6A-7876EE385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2653712-BB28-58A4-5348-7B9A282AE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2947-A581-43B4-A8BD-AC6302036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184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D34A57-FDD7-2F54-1AA2-2A62FBEC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893D845-4476-CB2B-2B30-7EB1C954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9F48E-D7A0-4AFB-9C47-59702B7FA24F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7C8B655-5FC9-9AA0-57D5-9D92D627A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7F0FA5B-25BA-1B87-794B-04B2BBC16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2947-A581-43B4-A8BD-AC6302036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8860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769682C-E974-D3C1-07F9-0DD346AD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9F48E-D7A0-4AFB-9C47-59702B7FA24F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142275B-B563-7052-9C5C-DE63BB60A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D0C91EB-A321-9621-3292-9ACC5D3E7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2947-A581-43B4-A8BD-AC6302036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889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1AC761-9229-06D9-0EB9-8E9BEBB54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FBB368-C1D6-D370-2969-EBE1A294E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4F165DC-E0F5-EA4C-C84B-7A1B4290E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2C1B744-50D0-BE05-98A1-11B1CE8E6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9F48E-D7A0-4AFB-9C47-59702B7FA24F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A0F79B3-9488-EE43-1DEF-6CF965DA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FFD8962-DC59-26A3-4AD3-597E19BFC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2947-A581-43B4-A8BD-AC6302036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5502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269C39-83CE-BDF1-323D-3918C8C2C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B7FA6E4-8ECF-F987-D89A-AC49B6691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BEEF6AD-D565-5A0F-8E20-CFA41FE1B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64E04E6-A411-C7A8-054E-111495CEF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9F48E-D7A0-4AFB-9C47-59702B7FA24F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61C7E9B-4DFD-B1B8-6C3E-3ED4F4207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4ED05F0-C0D3-E6A1-F6D2-6E7DB8F8E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2947-A581-43B4-A8BD-AC6302036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2132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2F550F-28F7-1183-E971-57429763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0F0CFF6-589E-6B68-3DEF-575CEE5A2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0ECC1FA-54AF-10B2-1271-01EA7F4E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9F48E-D7A0-4AFB-9C47-59702B7FA24F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E80920E-FB9B-0DA2-D36F-59527FE66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983F71F-7096-9DEE-8E6D-AAFF0DC5B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2947-A581-43B4-A8BD-AC6302036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8939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24B9FED-59D9-B41B-83FE-5FA52BD6D2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980ACE4-4074-BC70-7BE0-D0699522F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9F9084D-DB5C-9201-4691-4CD7B38C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9F48E-D7A0-4AFB-9C47-59702B7FA24F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1F41F3-2857-0D5B-7557-15D29693B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E1927ED-F197-2FFC-0C15-5C85D5E45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02947-A581-43B4-A8BD-AC6302036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9282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B6E64E8-C747-6526-7E2C-964F6A7DE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4371BF6-7BC1-4EC7-F6F7-820A8CE0D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EF6573A-76AD-4FF8-9A91-10448D93AC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9F48E-D7A0-4AFB-9C47-59702B7FA24F}" type="datetimeFigureOut">
              <a:rPr lang="it-IT" smtClean="0"/>
              <a:t>21/02/2026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D2C367E-380D-61CB-98B1-3D9AEC4E0F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6C6192-B78F-15D9-59BD-3C0F5A57A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02947-A581-43B4-A8BD-AC6302036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234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nio.com/it/animali/volpi-lupi/lupo-cane-pelliccia-erba-predatore-carnivoro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egnaposto immagine 5" descr="Immagine che contiene mammifero, lupo, aria aperta, cane&#10;&#10;Il contenuto generato dall'IA potrebbe non essere corretto.">
            <a:extLst>
              <a:ext uri="{FF2B5EF4-FFF2-40B4-BE49-F238E27FC236}">
                <a16:creationId xmlns:a16="http://schemas.microsoft.com/office/drawing/2014/main" id="{C98209E8-D6F4-C0D0-1FE7-FB6B28591DA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2090" r="13128"/>
          <a:stretch>
            <a:fillRect/>
          </a:stretch>
        </p:blipFill>
        <p:spPr>
          <a:xfrm>
            <a:off x="7892142" y="0"/>
            <a:ext cx="4300537" cy="6858000"/>
          </a:xfrm>
        </p:spPr>
      </p:pic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6F26598-7872-C12A-1603-070642D5F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0"/>
            <a:ext cx="7892142" cy="6858000"/>
          </a:xfrm>
        </p:spPr>
        <p:txBody>
          <a:bodyPr>
            <a:normAutofit fontScale="92500" lnSpcReduction="10000"/>
          </a:bodyPr>
          <a:lstStyle/>
          <a:p>
            <a:r>
              <a:rPr lang="it-IT" sz="3900" dirty="0">
                <a:solidFill>
                  <a:schemeClr val="bg1"/>
                </a:solidFill>
              </a:rPr>
              <a:t>Il lupo diffida </a:t>
            </a:r>
            <a:r>
              <a:rPr lang="it-IT" sz="3900" dirty="0">
                <a:solidFill>
                  <a:srgbClr val="FFFF00"/>
                </a:solidFill>
              </a:rPr>
              <a:t>di</a:t>
            </a:r>
            <a:r>
              <a:rPr lang="it-IT" sz="3900" dirty="0">
                <a:solidFill>
                  <a:schemeClr val="bg1"/>
                </a:solidFill>
              </a:rPr>
              <a:t> tutto ciò che è nuovo. Si avvicina </a:t>
            </a:r>
            <a:r>
              <a:rPr lang="it-IT" sz="3900" dirty="0">
                <a:solidFill>
                  <a:srgbClr val="FFFF00"/>
                </a:solidFill>
              </a:rPr>
              <a:t>a</a:t>
            </a:r>
            <a:r>
              <a:rPr lang="it-IT" sz="3900" dirty="0">
                <a:solidFill>
                  <a:schemeClr val="bg1"/>
                </a:solidFill>
              </a:rPr>
              <a:t> prede più grandi di lui solo </a:t>
            </a:r>
            <a:r>
              <a:rPr lang="it-IT" sz="3900" dirty="0">
                <a:solidFill>
                  <a:srgbClr val="FFFF00"/>
                </a:solidFill>
              </a:rPr>
              <a:t>in</a:t>
            </a:r>
            <a:r>
              <a:rPr lang="it-IT" sz="3900" dirty="0">
                <a:solidFill>
                  <a:schemeClr val="bg1"/>
                </a:solidFill>
              </a:rPr>
              <a:t> branco: conta </a:t>
            </a:r>
            <a:r>
              <a:rPr lang="it-IT" sz="3900" dirty="0">
                <a:solidFill>
                  <a:srgbClr val="FFFF00"/>
                </a:solidFill>
              </a:rPr>
              <a:t>su</a:t>
            </a:r>
            <a:r>
              <a:rPr lang="it-IT" sz="3900" dirty="0">
                <a:solidFill>
                  <a:schemeClr val="bg1"/>
                </a:solidFill>
              </a:rPr>
              <a:t> ogni membro del gruppo. La sua vita dipende </a:t>
            </a:r>
            <a:r>
              <a:rPr lang="it-IT" sz="3900" dirty="0">
                <a:solidFill>
                  <a:srgbClr val="FFFF00"/>
                </a:solidFill>
              </a:rPr>
              <a:t>da</a:t>
            </a:r>
            <a:r>
              <a:rPr lang="it-IT" sz="3900" dirty="0">
                <a:solidFill>
                  <a:schemeClr val="bg1"/>
                </a:solidFill>
              </a:rPr>
              <a:t> un territorio vasto, perciò il lupo non rinuncia </a:t>
            </a:r>
            <a:r>
              <a:rPr lang="it-IT" sz="3900" dirty="0">
                <a:solidFill>
                  <a:srgbClr val="FFFF00"/>
                </a:solidFill>
              </a:rPr>
              <a:t>a</a:t>
            </a:r>
            <a:r>
              <a:rPr lang="it-IT" sz="3900" dirty="0">
                <a:solidFill>
                  <a:schemeClr val="bg1"/>
                </a:solidFill>
              </a:rPr>
              <a:t> nessuna parte di esso. Convive </a:t>
            </a:r>
            <a:r>
              <a:rPr lang="it-IT" sz="3900" dirty="0">
                <a:solidFill>
                  <a:srgbClr val="FFFF00"/>
                </a:solidFill>
              </a:rPr>
              <a:t>con</a:t>
            </a:r>
            <a:r>
              <a:rPr lang="it-IT" sz="3900" dirty="0">
                <a:solidFill>
                  <a:schemeClr val="bg1"/>
                </a:solidFill>
              </a:rPr>
              <a:t> i propri simili secondo regole precise: quando possibile, si allontanano </a:t>
            </a:r>
            <a:r>
              <a:rPr lang="it-IT" sz="3900" dirty="0">
                <a:solidFill>
                  <a:srgbClr val="FFFF00"/>
                </a:solidFill>
              </a:rPr>
              <a:t>da</a:t>
            </a:r>
            <a:r>
              <a:rPr lang="it-IT" sz="3900" dirty="0">
                <a:solidFill>
                  <a:schemeClr val="bg1"/>
                </a:solidFill>
              </a:rPr>
              <a:t> insediamenti umani. </a:t>
            </a:r>
            <a:br>
              <a:rPr lang="it-IT" sz="3900" dirty="0">
                <a:solidFill>
                  <a:schemeClr val="bg1"/>
                </a:solidFill>
              </a:rPr>
            </a:br>
            <a:r>
              <a:rPr lang="it-IT" sz="3900" dirty="0">
                <a:solidFill>
                  <a:schemeClr val="bg1"/>
                </a:solidFill>
              </a:rPr>
              <a:t>È un animale che eccelle </a:t>
            </a:r>
            <a:r>
              <a:rPr lang="it-IT" sz="3900" dirty="0">
                <a:solidFill>
                  <a:srgbClr val="FFFF00"/>
                </a:solidFill>
              </a:rPr>
              <a:t>in</a:t>
            </a:r>
            <a:r>
              <a:rPr lang="it-IT" sz="3900" dirty="0">
                <a:solidFill>
                  <a:schemeClr val="bg1"/>
                </a:solidFill>
              </a:rPr>
              <a:t> coordinazione. Si adatta </a:t>
            </a:r>
            <a:r>
              <a:rPr lang="it-IT" sz="3900" dirty="0">
                <a:solidFill>
                  <a:srgbClr val="FFFF00"/>
                </a:solidFill>
              </a:rPr>
              <a:t>ai</a:t>
            </a:r>
            <a:r>
              <a:rPr lang="it-IT" sz="3900" dirty="0">
                <a:solidFill>
                  <a:schemeClr val="bg1"/>
                </a:solidFill>
              </a:rPr>
              <a:t> climi più estremi e si nutre </a:t>
            </a:r>
            <a:r>
              <a:rPr lang="it-IT" sz="3900" dirty="0">
                <a:solidFill>
                  <a:srgbClr val="FFFF00"/>
                </a:solidFill>
              </a:rPr>
              <a:t>di</a:t>
            </a:r>
            <a:r>
              <a:rPr lang="it-IT" sz="3900" dirty="0">
                <a:solidFill>
                  <a:schemeClr val="bg1"/>
                </a:solidFill>
              </a:rPr>
              <a:t> carne anche quando le prede scarseggiano. </a:t>
            </a:r>
            <a:br>
              <a:rPr lang="it-IT" sz="3900" dirty="0">
                <a:solidFill>
                  <a:schemeClr val="bg1"/>
                </a:solidFill>
              </a:rPr>
            </a:br>
            <a:r>
              <a:rPr lang="it-IT" sz="3900" dirty="0">
                <a:solidFill>
                  <a:schemeClr val="bg1"/>
                </a:solidFill>
              </a:rPr>
              <a:t>Si sposta </a:t>
            </a:r>
            <a:r>
              <a:rPr lang="it-IT" sz="3900" dirty="0">
                <a:solidFill>
                  <a:srgbClr val="FFFF00"/>
                </a:solidFill>
              </a:rPr>
              <a:t>da</a:t>
            </a:r>
            <a:r>
              <a:rPr lang="it-IT" sz="3900" dirty="0">
                <a:solidFill>
                  <a:schemeClr val="bg1"/>
                </a:solidFill>
              </a:rPr>
              <a:t> un posto </a:t>
            </a:r>
            <a:r>
              <a:rPr lang="it-IT" sz="3900" dirty="0">
                <a:solidFill>
                  <a:srgbClr val="FFFF00"/>
                </a:solidFill>
              </a:rPr>
              <a:t>all</a:t>
            </a:r>
            <a:r>
              <a:rPr lang="it-IT" sz="3900" dirty="0">
                <a:solidFill>
                  <a:schemeClr val="bg1"/>
                </a:solidFill>
              </a:rPr>
              <a:t>’altro quasi solo di notte e vive </a:t>
            </a:r>
            <a:r>
              <a:rPr lang="it-IT" sz="3900" dirty="0">
                <a:solidFill>
                  <a:srgbClr val="FFFF00"/>
                </a:solidFill>
              </a:rPr>
              <a:t>in</a:t>
            </a:r>
            <a:r>
              <a:rPr lang="it-IT" sz="3900" dirty="0">
                <a:solidFill>
                  <a:schemeClr val="bg1"/>
                </a:solidFill>
              </a:rPr>
              <a:t> ambienti isolati.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86278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2C6F00-E208-1C80-075D-74EE55471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656" y="0"/>
            <a:ext cx="11734800" cy="1325563"/>
          </a:xfrm>
        </p:spPr>
        <p:txBody>
          <a:bodyPr/>
          <a:lstStyle/>
          <a:p>
            <a:pPr algn="ctr"/>
            <a:r>
              <a:rPr lang="it-IT" dirty="0">
                <a:solidFill>
                  <a:srgbClr val="FFFF00"/>
                </a:solidFill>
              </a:rPr>
              <a:t>Area semantica del verbo: cosa significa la scena?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191F1312-59B7-7886-9CE1-999E013ABE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0232052"/>
              </p:ext>
            </p:extLst>
          </p:nvPr>
        </p:nvGraphicFramePr>
        <p:xfrm>
          <a:off x="521208" y="1078992"/>
          <a:ext cx="11283696" cy="5495544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820924">
                  <a:extLst>
                    <a:ext uri="{9D8B030D-6E8A-4147-A177-3AD203B41FA5}">
                      <a16:colId xmlns:a16="http://schemas.microsoft.com/office/drawing/2014/main" val="3925594465"/>
                    </a:ext>
                  </a:extLst>
                </a:gridCol>
                <a:gridCol w="2820924">
                  <a:extLst>
                    <a:ext uri="{9D8B030D-6E8A-4147-A177-3AD203B41FA5}">
                      <a16:colId xmlns:a16="http://schemas.microsoft.com/office/drawing/2014/main" val="1611572012"/>
                    </a:ext>
                  </a:extLst>
                </a:gridCol>
                <a:gridCol w="2820924">
                  <a:extLst>
                    <a:ext uri="{9D8B030D-6E8A-4147-A177-3AD203B41FA5}">
                      <a16:colId xmlns:a16="http://schemas.microsoft.com/office/drawing/2014/main" val="4094824034"/>
                    </a:ext>
                  </a:extLst>
                </a:gridCol>
                <a:gridCol w="2820924">
                  <a:extLst>
                    <a:ext uri="{9D8B030D-6E8A-4147-A177-3AD203B41FA5}">
                      <a16:colId xmlns:a16="http://schemas.microsoft.com/office/drawing/2014/main" val="1314585062"/>
                    </a:ext>
                  </a:extLst>
                </a:gridCol>
              </a:tblGrid>
              <a:tr h="1448150">
                <a:tc>
                  <a:txBody>
                    <a:bodyPr/>
                    <a:lstStyle/>
                    <a:p>
                      <a:pPr algn="ctr"/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Scene di COMUNICAZIONE,</a:t>
                      </a:r>
                      <a:br>
                        <a:rPr lang="it-IT" sz="20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DONAZIONE e</a:t>
                      </a:r>
                      <a:br>
                        <a:rPr lang="it-IT" sz="20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SOTTRAZIONE</a:t>
                      </a:r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Scene di</a:t>
                      </a:r>
                      <a:br>
                        <a:rPr lang="it-IT" sz="20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MOVIMENTO</a:t>
                      </a:r>
                    </a:p>
                    <a:p>
                      <a:pPr algn="ctr"/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con una META</a:t>
                      </a:r>
                    </a:p>
                    <a:p>
                      <a:pPr algn="ctr"/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necessaria</a:t>
                      </a:r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Scene di</a:t>
                      </a:r>
                      <a:br>
                        <a:rPr lang="it-IT" sz="20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PROVENIENZA</a:t>
                      </a:r>
                    </a:p>
                    <a:p>
                      <a:pPr algn="ctr"/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o di ORIGINE</a:t>
                      </a:r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Scene di SEPARAZIONE</a:t>
                      </a:r>
                    </a:p>
                    <a:p>
                      <a:pPr algn="ctr"/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di ALLONTANAMENTO</a:t>
                      </a:r>
                    </a:p>
                    <a:p>
                      <a:pPr algn="ctr"/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e di PRIVAZIONE</a:t>
                      </a:r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4899497"/>
                  </a:ext>
                </a:extLst>
              </a:tr>
              <a:tr h="1299622">
                <a:tc>
                  <a:txBody>
                    <a:bodyPr/>
                    <a:lstStyle/>
                    <a:p>
                      <a:pPr algn="l"/>
                      <a:r>
                        <a:rPr lang="it-IT" sz="1800" dirty="0">
                          <a:solidFill>
                            <a:schemeClr val="tx1"/>
                          </a:solidFill>
                        </a:rPr>
                        <a:t>DIRE, DARE, SPIEGARE,</a:t>
                      </a:r>
                    </a:p>
                    <a:p>
                      <a:pPr algn="l"/>
                      <a:r>
                        <a:rPr lang="it-IT" sz="1800" dirty="0">
                          <a:solidFill>
                            <a:schemeClr val="tx1"/>
                          </a:solidFill>
                        </a:rPr>
                        <a:t>INVIARE, PRESTARE, VENDERE, RUBARE, SCRIVERE</a:t>
                      </a:r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800" dirty="0">
                          <a:solidFill>
                            <a:schemeClr val="tx1"/>
                          </a:solidFill>
                        </a:rPr>
                        <a:t>ANDARE, ARRIVARE, TORNARE, CORRERE, RECARSI, MUOVERSI, PARTIRE</a:t>
                      </a:r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800" dirty="0">
                          <a:solidFill>
                            <a:schemeClr val="tx1"/>
                          </a:solidFill>
                        </a:rPr>
                        <a:t>VENIRE, PROVENIRE, TORNARE, RICEVERE, EREDITARE, ATTINGERE</a:t>
                      </a:r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800" dirty="0">
                          <a:solidFill>
                            <a:schemeClr val="tx1"/>
                          </a:solidFill>
                        </a:rPr>
                        <a:t>SOTTRARRE, DIVIDERE, ALLONTANARE, PARTIRE,</a:t>
                      </a:r>
                    </a:p>
                    <a:p>
                      <a:pPr algn="l"/>
                      <a:r>
                        <a:rPr lang="it-IT" sz="1800" dirty="0">
                          <a:solidFill>
                            <a:schemeClr val="tx1"/>
                          </a:solidFill>
                        </a:rPr>
                        <a:t>SCAPPARE, RUBARE</a:t>
                      </a:r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055086"/>
                  </a:ext>
                </a:extLst>
              </a:tr>
              <a:tr h="1448150">
                <a:tc>
                  <a:txBody>
                    <a:bodyPr/>
                    <a:lstStyle/>
                    <a:p>
                      <a:pPr algn="ctr"/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Scene di COLLOCAZIONE</a:t>
                      </a:r>
                      <a:br>
                        <a:rPr lang="it-IT" sz="20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o di TRASFORMAZIONE</a:t>
                      </a:r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Scene di</a:t>
                      </a:r>
                    </a:p>
                    <a:p>
                      <a:pPr algn="ctr"/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RELAZIONE</a:t>
                      </a:r>
                    </a:p>
                    <a:p>
                      <a:pPr algn="ctr"/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o di CONTATTO</a:t>
                      </a:r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Scene di ATTRAVERSAMENTO</a:t>
                      </a:r>
                    </a:p>
                    <a:p>
                      <a:pPr algn="ctr"/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o di PREPARAZIONE PER UNO SCOPO</a:t>
                      </a:r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Scene di RIEMPIMENTO</a:t>
                      </a:r>
                    </a:p>
                    <a:p>
                      <a:pPr algn="ctr"/>
                      <a:r>
                        <a:rPr lang="it-IT" sz="2000" b="1" dirty="0">
                          <a:solidFill>
                            <a:schemeClr val="bg1"/>
                          </a:solidFill>
                        </a:rPr>
                        <a:t>o  di RIMOZIONE</a:t>
                      </a:r>
                    </a:p>
                    <a:p>
                      <a:pPr algn="ctr"/>
                      <a:endParaRPr lang="it-IT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5368471"/>
                  </a:ext>
                </a:extLst>
              </a:tr>
              <a:tr h="1299622"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chemeClr val="tx1"/>
                          </a:solidFill>
                        </a:rPr>
                        <a:t>POGGIARE, METTERE, INFILARE, TRASFORMARE, TRADURRE</a:t>
                      </a:r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chemeClr val="tx1"/>
                          </a:solidFill>
                        </a:rPr>
                        <a:t>UNIRE, LITIGARE, COLLABORARE, SCONTARARSI, CONFRONTARE</a:t>
                      </a:r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chemeClr val="tx1"/>
                          </a:solidFill>
                        </a:rPr>
                        <a:t>PASSARE, TRANSITARE, PREPARARSI, ALLENARE</a:t>
                      </a:r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chemeClr val="tx1"/>
                          </a:solidFill>
                        </a:rPr>
                        <a:t>RIEMPIRE, FORNIRE, CARICARE, PRIVARE</a:t>
                      </a:r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519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554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53AB1F-7AE2-AD1C-7BF0-8B45256E4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319C2B-FC32-D770-9914-805FBA144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" y="-159478"/>
            <a:ext cx="11734800" cy="1325563"/>
          </a:xfrm>
        </p:spPr>
        <p:txBody>
          <a:bodyPr/>
          <a:lstStyle/>
          <a:p>
            <a:pPr algn="ctr"/>
            <a:r>
              <a:rPr lang="it-IT" dirty="0">
                <a:solidFill>
                  <a:srgbClr val="FFFF00"/>
                </a:solidFill>
              </a:rPr>
              <a:t>Area semantica del verbo: cosa significa la scena?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2F5C32E-54C4-8E05-4458-388B4CCF8E68}"/>
              </a:ext>
            </a:extLst>
          </p:cNvPr>
          <p:cNvSpPr txBox="1"/>
          <p:nvPr/>
        </p:nvSpPr>
        <p:spPr>
          <a:xfrm>
            <a:off x="658368" y="1618488"/>
            <a:ext cx="10695432" cy="43513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D36E1E5-8B37-A74B-A1FF-8DB4C96F2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dirty="0"/>
              <a:t>I verbi bivalenti, trivalenti e tetravalenti possono reggere uno o più </a:t>
            </a:r>
            <a:r>
              <a:rPr lang="it-IT" b="1" dirty="0">
                <a:solidFill>
                  <a:schemeClr val="accent5">
                    <a:lumMod val="75000"/>
                  </a:schemeClr>
                </a:solidFill>
              </a:rPr>
              <a:t>oggetti indiretti</a:t>
            </a:r>
            <a:endParaRPr lang="it-IT" dirty="0"/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L’argomento oggetto indiretto è sempre un </a:t>
            </a:r>
            <a:r>
              <a:rPr lang="it-IT" b="1" dirty="0">
                <a:solidFill>
                  <a:schemeClr val="accent5">
                    <a:lumMod val="75000"/>
                  </a:schemeClr>
                </a:solidFill>
              </a:rPr>
              <a:t>gruppo del nome</a:t>
            </a:r>
            <a:r>
              <a:rPr lang="it-IT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it-IT" dirty="0"/>
              <a:t>con </a:t>
            </a:r>
            <a:r>
              <a:rPr lang="it-IT" b="1" dirty="0">
                <a:solidFill>
                  <a:schemeClr val="accent5">
                    <a:lumMod val="75000"/>
                  </a:schemeClr>
                </a:solidFill>
              </a:rPr>
              <a:t>preposizione</a:t>
            </a:r>
            <a:r>
              <a:rPr lang="it-IT" dirty="0"/>
              <a:t> (sintagma preposizionale)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Nella maggior parte dei casi</a:t>
            </a:r>
            <a:r>
              <a:rPr lang="it-IT" b="1" dirty="0">
                <a:solidFill>
                  <a:schemeClr val="accent5">
                    <a:lumMod val="75000"/>
                  </a:schemeClr>
                </a:solidFill>
              </a:rPr>
              <a:t> il</a:t>
            </a:r>
            <a:r>
              <a:rPr lang="it-IT" dirty="0"/>
              <a:t> </a:t>
            </a:r>
            <a:r>
              <a:rPr lang="it-IT" b="1" dirty="0">
                <a:solidFill>
                  <a:schemeClr val="accent5">
                    <a:lumMod val="75000"/>
                  </a:schemeClr>
                </a:solidFill>
              </a:rPr>
              <a:t>verbo</a:t>
            </a:r>
            <a:r>
              <a:rPr lang="it-IT" dirty="0"/>
              <a:t> </a:t>
            </a:r>
            <a:r>
              <a:rPr lang="it-IT" b="1" dirty="0">
                <a:solidFill>
                  <a:schemeClr val="accent5">
                    <a:lumMod val="75000"/>
                  </a:schemeClr>
                </a:solidFill>
              </a:rPr>
              <a:t>decide</a:t>
            </a:r>
            <a:r>
              <a:rPr lang="it-IT" dirty="0"/>
              <a:t> la preposizione che vuole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Conoscere </a:t>
            </a:r>
            <a:r>
              <a:rPr lang="it-IT" b="1" dirty="0">
                <a:solidFill>
                  <a:schemeClr val="accent5">
                    <a:lumMod val="75000"/>
                  </a:schemeClr>
                </a:solidFill>
              </a:rPr>
              <a:t>l’area</a:t>
            </a:r>
            <a:r>
              <a:rPr lang="it-IT" dirty="0"/>
              <a:t> </a:t>
            </a:r>
            <a:r>
              <a:rPr lang="it-IT" b="1" dirty="0">
                <a:solidFill>
                  <a:schemeClr val="accent5">
                    <a:lumMod val="75000"/>
                  </a:schemeClr>
                </a:solidFill>
              </a:rPr>
              <a:t>semantica</a:t>
            </a:r>
            <a:r>
              <a:rPr lang="it-IT" dirty="0"/>
              <a:t> del verbo </a:t>
            </a:r>
            <a:r>
              <a:rPr lang="it-IT" b="1" dirty="0">
                <a:solidFill>
                  <a:schemeClr val="accent5">
                    <a:lumMod val="75000"/>
                  </a:schemeClr>
                </a:solidFill>
              </a:rPr>
              <a:t>può</a:t>
            </a:r>
            <a:r>
              <a:rPr lang="it-IT" dirty="0"/>
              <a:t> </a:t>
            </a:r>
            <a:r>
              <a:rPr lang="it-IT" b="1" dirty="0">
                <a:solidFill>
                  <a:schemeClr val="accent5">
                    <a:lumMod val="75000"/>
                  </a:schemeClr>
                </a:solidFill>
              </a:rPr>
              <a:t>aiutarci</a:t>
            </a:r>
            <a:r>
              <a:rPr lang="it-IT" dirty="0"/>
              <a:t> a individuare la preposizione 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ma nel dubbio c’è sempre il </a:t>
            </a:r>
            <a:r>
              <a:rPr lang="it-IT" b="1" dirty="0">
                <a:solidFill>
                  <a:schemeClr val="accent5">
                    <a:lumMod val="75000"/>
                  </a:schemeClr>
                </a:solidFill>
              </a:rPr>
              <a:t>vocabolario</a:t>
            </a:r>
            <a:r>
              <a:rPr lang="it-IT" dirty="0"/>
              <a:t>, che a differenza del lupo non morde…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523286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Microsoft Office PowerPoint</Application>
  <PresentationFormat>Widescreen</PresentationFormat>
  <Paragraphs>35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di Office</vt:lpstr>
      <vt:lpstr>Presentazione standard di PowerPoint</vt:lpstr>
      <vt:lpstr>Area semantica del verbo: cosa significa la scena?</vt:lpstr>
      <vt:lpstr>Area semantica del verbo: cosa significa la scena?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 Capurri</dc:creator>
  <cp:lastModifiedBy>Lucia Capurri</cp:lastModifiedBy>
  <cp:revision>1</cp:revision>
  <dcterms:created xsi:type="dcterms:W3CDTF">2026-02-21T18:15:09Z</dcterms:created>
  <dcterms:modified xsi:type="dcterms:W3CDTF">2026-02-21T19:25:34Z</dcterms:modified>
</cp:coreProperties>
</file>